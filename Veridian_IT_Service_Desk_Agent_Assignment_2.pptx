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645920"/>
            <a:ext cx="8869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1">
                <a:solidFill>
                  <a:srgbClr val="2980B9"/>
                </a:solidFill>
                <a:latin typeface="Calibri"/>
              </a:defRPr>
            </a:pPr>
            <a:r>
              <a:t>AIONOS AGENTIC AI FACTORY • ASSESSMENT 2</a:t>
            </a:r>
          </a:p>
          <a:p>
            <a:pPr>
              <a:spcAft>
                <a:spcPts val="1000"/>
              </a:spcAft>
              <a:defRPr sz="3600" b="1">
                <a:solidFill>
                  <a:srgbClr val="182B49"/>
                </a:solidFill>
                <a:latin typeface="Calibri"/>
              </a:defRPr>
            </a:pPr>
            <a:r>
              <a:t>Veridian IT Service Desk Agent</a:t>
            </a:r>
          </a:p>
          <a:p>
            <a:pPr>
              <a:spcAft>
                <a:spcPts val="2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Assignment 2 — Internal Service Agent (IT Support)</a:t>
            </a:r>
          </a:p>
          <a:p>
            <a:pPr>
              <a:spcAft>
                <a:spcPts val="80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● Policy-grounded employee IT support prototype</a:t>
            </a:r>
          </a:p>
          <a:p>
            <a:pPr>
              <a:spcAft>
                <a:spcPts val="2400"/>
              </a:spcAft>
              <a:defRPr sz="1400">
                <a:solidFill>
                  <a:srgbClr val="2980B9"/>
                </a:solidFill>
                <a:latin typeface="Calibri"/>
              </a:defRPr>
            </a:pPr>
            <a:r>
              <a:t>Resolve  •  Clarify  •  Escalate  •  Audit</a:t>
            </a:r>
          </a:p>
          <a:p>
            <a:pPr>
              <a:defRPr sz="1100">
                <a:solidFill>
                  <a:srgbClr val="7F8C8D"/>
                </a:solidFill>
                <a:latin typeface="Calibri"/>
              </a:defRPr>
            </a:pPr>
            <a:r>
              <a:t>Candidate: Nitesh Kumar   |   Date: September 2026   |   Repository: GitHub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980B9"/>
                </a:solidFill>
                <a:latin typeface="Calibri"/>
              </a:defRPr>
            </a:pPr>
            <a:r>
              <a:t>VERIDIAN IT SERVICE DESK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82B49"/>
                </a:solidFill>
                <a:latin typeface="Calibri"/>
              </a:defRPr>
            </a:pPr>
            <a:r>
              <a:t>Problem &amp; 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82B49"/>
                </a:solidFill>
              </a:defRPr>
            </a:pPr>
            <a:r>
              <a:t>The Operational Context</a:t>
            </a:r>
          </a:p>
          <a:p>
            <a:pPr>
              <a:spcAft>
                <a:spcPts val="1000"/>
              </a:spcAft>
              <a:defRPr sz="1300">
                <a:solidFill>
                  <a:srgbClr val="2C3E50"/>
                </a:solidFill>
              </a:defRPr>
            </a:pPr>
            <a:r>
              <a:t>• Employees submit repetitive, high-frequency IT support requests in natural workplace language.</a:t>
            </a:r>
          </a:p>
          <a:p>
            <a:pPr>
              <a:spcAft>
                <a:spcPts val="1000"/>
              </a:spcAft>
              <a:defRPr sz="1300">
                <a:solidFill>
                  <a:srgbClr val="2C3E50"/>
                </a:solidFill>
              </a:defRPr>
            </a:pPr>
            <a:r>
              <a:t>• Common inquiries include password lockouts, VPN access renewal, printer faults, non-catalog software requests, mailbox storage limits, and home office allowances.</a:t>
            </a:r>
          </a:p>
          <a:p>
            <a:pPr>
              <a:spcAft>
                <a:spcPts val="1000"/>
              </a:spcAft>
              <a:defRPr sz="1300">
                <a:solidFill>
                  <a:srgbClr val="2C3E50"/>
                </a:solidFill>
              </a:defRPr>
            </a:pPr>
            <a:r>
              <a:t>• First-line support often struggles with inconsistent policy application, unverified self-approval of restricted software, and inadequate audit documentation.</a:t>
            </a:r>
          </a:p>
          <a:p>
            <a:pPr>
              <a:spcAft>
                <a:spcPts val="1000"/>
              </a:spcAft>
              <a:defRPr sz="1300">
                <a:solidFill>
                  <a:srgbClr val="2C3E50"/>
                </a:solidFill>
              </a:defRPr>
            </a:pPr>
            <a:r>
              <a:t>• The agent must understand employee intent, retrieve exact corporate policy, disambiguate missing details, and safely route cases.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82B49"/>
                </a:solidFill>
              </a:defRPr>
            </a:pPr>
            <a:r>
              <a:t>Core Solution Objective</a:t>
            </a:r>
          </a:p>
          <a:p>
            <a:pPr>
              <a:spcAft>
                <a:spcPts val="2000"/>
              </a:spcAft>
              <a:defRPr sz="1400" b="1">
                <a:solidFill>
                  <a:srgbClr val="2980B9"/>
                </a:solidFill>
              </a:defRPr>
            </a:pPr>
            <a:r>
              <a:t>"Provide consistent, policy-grounded first-line IT support while keeping decisions traceable and escalation-safe."</a:t>
            </a:r>
          </a:p>
          <a:p>
            <a:pPr>
              <a:spcAft>
                <a:spcPts val="800"/>
              </a:spcAft>
              <a:defRPr sz="1200">
                <a:solidFill>
                  <a:srgbClr val="2C3E50"/>
                </a:solidFill>
              </a:defRPr>
            </a:pPr>
            <a:r>
              <a:t>✔ Deterministic Grounding: Operate strictly on supplied Veridian policies without hallucination or invented procedures.</a:t>
            </a:r>
          </a:p>
          <a:p>
            <a:pPr>
              <a:spcAft>
                <a:spcPts val="800"/>
              </a:spcAft>
              <a:defRPr sz="1200">
                <a:solidFill>
                  <a:srgbClr val="2C3E50"/>
                </a:solidFill>
              </a:defRPr>
            </a:pPr>
            <a:r>
              <a:t>✔ Clarification Over Guessing: Prompt the employee for essential criteria when inquiries are ambiguous or conditional.</a:t>
            </a:r>
          </a:p>
          <a:p>
            <a:pPr>
              <a:spcAft>
                <a:spcPts val="800"/>
              </a:spcAft>
              <a:defRPr sz="1200">
                <a:solidFill>
                  <a:srgbClr val="2C3E50"/>
                </a:solidFill>
              </a:defRPr>
            </a:pPr>
            <a:r>
              <a:t>✔ Escalation as a Safety Boundary: Enforce human authorization for security threats, server permissions, and asset exceptions.</a:t>
            </a:r>
          </a:p>
          <a:p>
            <a:pPr>
              <a:spcAft>
                <a:spcPts val="800"/>
              </a:spcAft>
              <a:defRPr sz="1200">
                <a:solidFill>
                  <a:srgbClr val="2C3E50"/>
                </a:solidFill>
              </a:defRPr>
            </a:pPr>
            <a:r>
              <a:t>✔ Full Auditability: Maintain immutable local JSON event logs for every query, citation, decision, and ticket.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980B9"/>
                </a:solidFill>
                <a:latin typeface="Calibri"/>
              </a:defRPr>
            </a:pPr>
            <a:r>
              <a:t>VERIDIAN IT SERVICE DESK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82B49"/>
                </a:solidFill>
                <a:latin typeface="Calibri"/>
              </a:defRPr>
            </a:pPr>
            <a:r>
              <a:t>Agent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B49"/>
                </a:solidFill>
              </a:defRPr>
            </a:pPr>
            <a:r>
              <a:t>1. Employee Request</a:t>
            </a:r>
          </a:p>
          <a:p>
            <a:pPr>
              <a:defRPr sz="1100">
                <a:solidFill>
                  <a:srgbClr val="7F8C8D"/>
                </a:solidFill>
              </a:defRPr>
            </a:pPr>
            <a:r>
              <a:t>Natural language text via Service Desk UI (REQ-01..15)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468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B49"/>
                </a:solidFill>
              </a:defRPr>
            </a:pPr>
            <a:r>
              <a:t>2. Understand / Classify</a:t>
            </a:r>
          </a:p>
          <a:p>
            <a:pPr>
              <a:defRPr sz="1100">
                <a:solidFill>
                  <a:srgbClr val="7F8C8D"/>
                </a:solidFill>
              </a:defRPr>
            </a:pPr>
            <a:r>
              <a:t>Intent triage &amp; safety keyword screening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468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00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B49"/>
                </a:solidFill>
              </a:defRPr>
            </a:pPr>
            <a:r>
              <a:t>3. Find Relevant Policy</a:t>
            </a:r>
          </a:p>
          <a:p>
            <a:pPr>
              <a:defRPr sz="1100">
                <a:solidFill>
                  <a:srgbClr val="7F8C8D"/>
                </a:solidFill>
              </a:defRPr>
            </a:pPr>
            <a:r>
              <a:t>Search KB-01..KB-10 and Asset Management 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463040"/>
            <a:ext cx="2468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600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B49"/>
                </a:solidFill>
              </a:defRPr>
            </a:pPr>
            <a:r>
              <a:t>4. Historical Context</a:t>
            </a:r>
          </a:p>
          <a:p>
            <a:pPr>
              <a:defRPr sz="1100">
                <a:solidFill>
                  <a:srgbClr val="7F8C8D"/>
                </a:solidFill>
              </a:defRPr>
            </a:pPr>
            <a:r>
              <a:t>Check past records TK-1042..TK-1051 for similarity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3383280" cy="1920240"/>
          </a:xfrm>
          <a:prstGeom prst="roundRect">
            <a:avLst/>
          </a:prstGeom>
          <a:solidFill>
            <a:srgbClr val="F0F9F4"/>
          </a:solidFill>
          <a:ln w="12700">
            <a:solidFill>
              <a:srgbClr val="A9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7AE60"/>
                </a:solidFill>
              </a:defRPr>
            </a:pPr>
            <a:r>
              <a:t>DECISION: RESOLVE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• Approved self-service procedure available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• Generates step-by-step guidance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• Cites policy source (e.g., KB-01, KB-07)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• Displays structured ticket card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926080"/>
            <a:ext cx="3383280" cy="1920240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F5B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0632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35400"/>
                </a:solidFill>
              </a:defRPr>
            </a:pPr>
            <a:r>
              <a:t>DECISION: NEED INFO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• Required criteria or context missing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• Presents diagnostic clarification questions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• Single-turn disambiguation loop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• Prevents ungrounded guessing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926080"/>
            <a:ext cx="3383280" cy="192024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F5B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30632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392B"/>
                </a:solidFill>
              </a:defRPr>
            </a:pPr>
            <a:r>
              <a:t>DECISION: ESCALATE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• Security risk, admin rights, or exceptions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• Creates structured escalation ticket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• Persisted to tickets_created.json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• Routes to human IT / Security / Finance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20640"/>
            <a:ext cx="10698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21208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2B49"/>
                </a:solidFill>
              </a:defRPr>
            </a:pPr>
            <a:r>
              <a:t>Audit Trail &amp; Precedent Boundary Notice</a:t>
            </a:r>
          </a:p>
          <a:p>
            <a:pPr>
              <a:defRPr sz="1100">
                <a:solidFill>
                  <a:srgbClr val="7F8C8D"/>
                </a:solidFill>
              </a:defRPr>
            </a:pPr>
            <a:r>
              <a:t>• Audit Trail: Every execution, policy search, follow-up, and decision is recorded to audit_log.json with exact ISO timestamps.</a:t>
            </a:r>
            <a:br/>
            <a:r>
              <a:t>• Historical Precedents: Past tickets (TK-1042..TK-1051) provide reference context only — they are never treated as the current employee's ticket.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980B9"/>
                </a:solidFill>
                <a:latin typeface="Calibri"/>
              </a:defRPr>
            </a:pPr>
            <a:r>
              <a:t>VERIDIAN IT SERVICE DESK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82B49"/>
                </a:solidFill>
                <a:latin typeface="Calibri"/>
              </a:defRPr>
            </a:pPr>
            <a:r>
              <a:t>Inputs, Sources &amp; Assumptions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82B49"/>
                </a:solidFill>
              </a:defRPr>
            </a:pPr>
            <a:r>
              <a:t>Inputs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</a:defRPr>
            </a:pPr>
            <a:r>
              <a:t>• Employee Request ID: Unique benchmark ID (REQ-01 through REQ-15).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</a:defRPr>
            </a:pPr>
            <a:r>
              <a:t>• Employee Name &amp; Email: Requester identity and corporate email contact.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</a:defRPr>
            </a:pPr>
            <a:r>
              <a:t>• Original IT Request: Natural language text describing technical issue or need.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</a:defRPr>
            </a:pPr>
            <a:r>
              <a:t>• Optional Follow-up Info: Additional clarifying details supplied by employee during disambiguation.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</a:defRPr>
            </a:pPr>
            <a:r>
              <a:t>• Historical Tickets: Past corporate ticket records used strictly for precedent similarity.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82B49"/>
                </a:solidFill>
              </a:defRPr>
            </a:pPr>
            <a:r>
              <a:t>Sources</a:t>
            </a:r>
          </a:p>
          <a:p>
            <a:pPr>
              <a:spcAft>
                <a:spcPts val="800"/>
              </a:spcAft>
              <a:defRPr sz="1100">
                <a:solidFill>
                  <a:srgbClr val="2C3E50"/>
                </a:solidFill>
              </a:defRPr>
            </a:pPr>
            <a:r>
              <a:t>• KB-01 to KB-10: 10 authoritative IT Knowledge Base articles covering passwords, VPN, laptops, software, printers, mailbox, Wi-Fi, expense tool, security, and WFH.</a:t>
            </a:r>
          </a:p>
          <a:p>
            <a:pPr>
              <a:spcAft>
                <a:spcPts val="800"/>
              </a:spcAft>
              <a:defRPr sz="1100">
                <a:solidFill>
                  <a:srgbClr val="2C3E50"/>
                </a:solidFill>
              </a:defRPr>
            </a:pPr>
            <a:r>
              <a:t>• Asset Management Policy: Finance &amp; Assets policy extract (4-year refresh cycle; early replacement requires Finance sign-off).</a:t>
            </a:r>
          </a:p>
          <a:p>
            <a:pPr>
              <a:spcAft>
                <a:spcPts val="800"/>
              </a:spcAft>
              <a:defRPr sz="1100">
                <a:solidFill>
                  <a:srgbClr val="2C3E50"/>
                </a:solidFill>
              </a:defRPr>
            </a:pPr>
            <a:r>
              <a:t>• Employee Requests: 15 benchmark employee requests (REQ-01 through REQ-15).</a:t>
            </a:r>
          </a:p>
          <a:p>
            <a:pPr>
              <a:spcAft>
                <a:spcPts val="800"/>
              </a:spcAft>
              <a:defRPr sz="1100">
                <a:solidFill>
                  <a:srgbClr val="2C3E50"/>
                </a:solidFill>
              </a:defRPr>
            </a:pPr>
            <a:r>
              <a:t>• Historical Tickets: 10 historical records (TK-1042 through TK-1051).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82B49"/>
                </a:solidFill>
              </a:defRPr>
            </a:pPr>
            <a:r>
              <a:t>Assumptions &amp; Guardrails</a:t>
            </a:r>
          </a:p>
          <a:p>
            <a:pPr>
              <a:spcAft>
                <a:spcPts val="500"/>
              </a:spcAft>
              <a:defRPr sz="1050">
                <a:solidFill>
                  <a:srgbClr val="2C3E50"/>
                </a:solidFill>
              </a:defRPr>
            </a:pPr>
            <a:r>
              <a:t>✔ Operates only on supplied assignment data.</a:t>
            </a:r>
          </a:p>
          <a:p>
            <a:pPr>
              <a:spcAft>
                <a:spcPts val="500"/>
              </a:spcAft>
              <a:defRPr sz="1050">
                <a:solidFill>
                  <a:srgbClr val="2C3E50"/>
                </a:solidFill>
              </a:defRPr>
            </a:pPr>
            <a:r>
              <a:t>✔ Shows policy source ID for grounded decisions.</a:t>
            </a:r>
          </a:p>
          <a:p>
            <a:pPr>
              <a:spcAft>
                <a:spcPts val="500"/>
              </a:spcAft>
              <a:defRPr sz="1050">
                <a:solidFill>
                  <a:srgbClr val="2C3E50"/>
                </a:solidFill>
              </a:defRPr>
            </a:pPr>
            <a:r>
              <a:t>✔ Historical tickets are reference context only; never current ownership.</a:t>
            </a:r>
          </a:p>
          <a:p>
            <a:pPr>
              <a:spcAft>
                <a:spcPts val="500"/>
              </a:spcAft>
              <a:defRPr sz="1050">
                <a:solidFill>
                  <a:srgbClr val="2C3E50"/>
                </a:solidFill>
              </a:defRPr>
            </a:pPr>
            <a:r>
              <a:t>✔ Closed tickets remain history, not active work.</a:t>
            </a:r>
          </a:p>
          <a:p>
            <a:pPr>
              <a:spcAft>
                <a:spcPts val="500"/>
              </a:spcAft>
              <a:defRPr sz="1050">
                <a:solidFill>
                  <a:srgbClr val="2C3E50"/>
                </a:solidFill>
              </a:defRPr>
            </a:pPr>
            <a:r>
              <a:t>✔ Asks follow-up question when required info is missing (no guessing).</a:t>
            </a:r>
          </a:p>
          <a:p>
            <a:pPr>
              <a:spcAft>
                <a:spcPts val="500"/>
              </a:spcAft>
              <a:defRPr sz="1050">
                <a:solidFill>
                  <a:srgbClr val="2C3E50"/>
                </a:solidFill>
              </a:defRPr>
            </a:pPr>
            <a:r>
              <a:t>✔ Escalates risky or unclear requests to human teams.</a:t>
            </a:r>
          </a:p>
          <a:p>
            <a:pPr>
              <a:spcAft>
                <a:spcPts val="500"/>
              </a:spcAft>
              <a:defRPr sz="1050">
                <a:solidFill>
                  <a:srgbClr val="2C3E50"/>
                </a:solidFill>
              </a:defRPr>
            </a:pPr>
            <a:r>
              <a:t>✔ No invented SLA values (assignment data does not provide SLAs).</a:t>
            </a:r>
          </a:p>
          <a:p>
            <a:pPr>
              <a:spcAft>
                <a:spcPts val="500"/>
              </a:spcAft>
              <a:defRPr sz="1050">
                <a:solidFill>
                  <a:srgbClr val="2C3E50"/>
                </a:solidFill>
              </a:defRPr>
            </a:pPr>
            <a:r>
              <a:t>✔ Not connected to a live enterprise ticketing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980B9"/>
                </a:solidFill>
                <a:latin typeface="Calibri"/>
              </a:defRPr>
            </a:pPr>
            <a:r>
              <a:t>VERIDIAN IT SERVICE DESK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82B49"/>
                </a:solidFill>
                <a:latin typeface="Calibri"/>
              </a:defRPr>
            </a:pPr>
            <a:r>
              <a:t>Understanding Employee Requests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C3E50"/>
                </a:solidFill>
              </a:defRPr>
            </a:pPr>
            <a:r>
              <a:t>The agent inspects the request text and available employee context to identify the issue category and determine whether sufficient decision criteria exist. It enforces a strict rule: The agent does not guess when required information is missing.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33832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9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82B49"/>
                </a:solidFill>
              </a:defRPr>
            </a:pPr>
            <a:r>
              <a:t>REQ-03 — Password Lockout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Employee: Karan Mehta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Request Text: "I'm locked out of my account, I tried my password 6 times."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Intent Analysis: Account lockout triggered after exceeding threshold.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Policy Matched: KB-01 (Password Reset)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Decision: RESOLVE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Action: Provides self-service unlock guidance; informs employee IT must unlock manually after 5 attempts; no approval needed.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377440"/>
            <a:ext cx="33832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56032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82B49"/>
                </a:solidFill>
              </a:defRPr>
            </a:pPr>
            <a:r>
              <a:t>REQ-05 — VPN Credentials Expired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Employee: Sanjay Oberoi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Request Text: "My VPN stopped working this morning, says credentials expired."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Intent Analysis: VPN credentials expired; rule depends on employee status.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Policy Matched: KB-02 (VPN Access)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Decision: NEED INFO (FOLLOW-UP)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Action: Prompts employee: "Are you a full-time employee or contractor?" to determine if renewal is automatic or requires manager approval.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377440"/>
            <a:ext cx="33832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56032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82B49"/>
                </a:solidFill>
              </a:defRPr>
            </a:pPr>
            <a:r>
              <a:t>REQ-15 — Vague IT Inquiry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Employee: Rahul Menon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Request Text: "Hey can you help, it's not working."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Intent Analysis: Underspecified query; device, application, and fault unknown.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Policy Matched: None (Ambiguous)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Decision: NEED INFO (FOLLOW-UP)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Action: Presents 4 structured diagnostic questions: system/device involved, attempted task, error message, and start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980B9"/>
                </a:solidFill>
                <a:latin typeface="Calibri"/>
              </a:defRPr>
            </a:pPr>
            <a:r>
              <a:t>VERIDIAN IT SERVICE DESK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82B49"/>
                </a:solidFill>
                <a:latin typeface="Calibri"/>
              </a:defRPr>
            </a:pPr>
            <a:r>
              <a:t>Policy Retrieval &amp; Decision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2B49"/>
                </a:solidFill>
              </a:defRPr>
            </a:pPr>
            <a:r>
              <a:t>KB-01 — Password Reset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Self-service reset portal available at any time.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If locked out after 5 failed attempts, IT unlocks account manually.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No manager or administrative approval required.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Triage outcome: RESOLVE with self-service/IT unlock instructions.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2B49"/>
                </a:solidFill>
              </a:defRPr>
            </a:pPr>
            <a:r>
              <a:t>KB-02 — VPN Access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Full-time employees: VPN access granted and renewed automatically.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Contractors: Requires formal manager approval via access request form.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Credentials expire every 90 days and must be renewed.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Triage outcome: NEED INFO to disambiguate employment status.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2B49"/>
                </a:solidFill>
              </a:defRPr>
            </a:pPr>
            <a:r>
              <a:t>KB-04 — Software Installation Requests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Standard software listed in approved catalog can be self-installed.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Non-catalog software &amp; browser extensions require IT Security review.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Security review takes 3–5 business days.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Triage outcome: ESCALATE to IT Security (cannot be auto-approved).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2B49"/>
                </a:solidFill>
              </a:defRPr>
            </a:pPr>
            <a:r>
              <a:t>Asset Management Policy + KB-03 (Reconciliation)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KB-03: Laptops eligible for replacement after 3 years or verified failure.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ASSET Extract: Standard 4-year refresh cycle from issue date.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Early replacement outside cycle requires Finance sign-off in addition to IT.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</a:defRPr>
            </a:pPr>
            <a:r>
              <a:t>• Triage outcome: ESCALATE (REQ-01, 3.5-yr laptop requires dual IT/Finance approval).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980B9"/>
                </a:solidFill>
                <a:latin typeface="Calibri"/>
              </a:defRPr>
            </a:pPr>
            <a:r>
              <a:t>VERIDIAN IT SERVICE DESK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82B49"/>
                </a:solidFill>
                <a:latin typeface="Calibri"/>
              </a:defRPr>
            </a:pPr>
            <a:r>
              <a:t>Resolve, Follow-up or Escalate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297680"/>
          </a:xfrm>
          <a:prstGeom prst="roundRect">
            <a:avLst/>
          </a:prstGeom>
          <a:solidFill>
            <a:srgbClr val="F0F9F4"/>
          </a:solidFill>
          <a:ln w="12700">
            <a:solidFill>
              <a:srgbClr val="A9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7AE60"/>
                </a:solidFill>
              </a:defRPr>
            </a:pPr>
            <a:r>
              <a:t>RESOLVE</a:t>
            </a:r>
          </a:p>
          <a:p>
            <a:pPr>
              <a:spcAft>
                <a:spcPts val="1000"/>
              </a:spcAft>
              <a:defRPr sz="1100">
                <a:solidFill>
                  <a:srgbClr val="7F8C8D"/>
                </a:solidFill>
              </a:defRPr>
            </a:pPr>
            <a:r>
              <a:t>Self-service guidance backed by approved policy.</a:t>
            </a:r>
          </a:p>
          <a:p>
            <a:pPr>
              <a:spcAft>
                <a:spcPts val="500"/>
              </a:spcAft>
              <a:defRPr sz="1100">
                <a:solidFill>
                  <a:srgbClr val="2C3E50"/>
                </a:solidFill>
              </a:defRPr>
            </a:pPr>
            <a:r>
              <a:t>✔ REQ-02: Guest Wi-Fi (front-desk kiosk self-issuance, KB-07)</a:t>
            </a:r>
          </a:p>
          <a:p>
            <a:pPr>
              <a:spcAft>
                <a:spcPts val="500"/>
              </a:spcAft>
              <a:defRPr sz="1100">
                <a:solidFill>
                  <a:srgbClr val="2C3E50"/>
                </a:solidFill>
              </a:defRPr>
            </a:pPr>
            <a:r>
              <a:t>✔ REQ-03: Password lockout (&gt;5 attempts manual IT reset, KB-01)</a:t>
            </a:r>
          </a:p>
          <a:p>
            <a:pPr>
              <a:spcAft>
                <a:spcPts val="500"/>
              </a:spcAft>
              <a:defRPr sz="1100">
                <a:solidFill>
                  <a:srgbClr val="2C3E50"/>
                </a:solidFill>
              </a:defRPr>
            </a:pPr>
            <a:r>
              <a:t>✔ REQ-06: Printer troubleshooting (restart spooler first, KB-05)</a:t>
            </a:r>
          </a:p>
          <a:p>
            <a:pPr>
              <a:spcAft>
                <a:spcPts val="500"/>
              </a:spcAft>
              <a:defRPr sz="1100">
                <a:solidFill>
                  <a:srgbClr val="2C3E50"/>
                </a:solidFill>
              </a:defRPr>
            </a:pPr>
            <a:r>
              <a:t>✔ REQ-09: Mailbox full (archive emails / 25GB quota, KB-06)</a:t>
            </a:r>
          </a:p>
          <a:p>
            <a:pPr>
              <a:spcAft>
                <a:spcPts val="500"/>
              </a:spcAft>
              <a:defRPr sz="1100">
                <a:solidFill>
                  <a:srgbClr val="2C3E50"/>
                </a:solidFill>
              </a:defRPr>
            </a:pPr>
            <a:r>
              <a:t>✔ REQ-12: Expense software login (Finance grants account, KB-08)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297680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F5B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D35400"/>
                </a:solidFill>
              </a:defRPr>
            </a:pPr>
            <a:r>
              <a:t>NEED INFORMATION</a:t>
            </a:r>
          </a:p>
          <a:p>
            <a:pPr>
              <a:spcAft>
                <a:spcPts val="1000"/>
              </a:spcAft>
              <a:defRPr sz="1100">
                <a:solidFill>
                  <a:srgbClr val="7F8C8D"/>
                </a:solidFill>
              </a:defRPr>
            </a:pPr>
            <a:r>
              <a:t>Targeted clarification required before routing.</a:t>
            </a:r>
          </a:p>
          <a:p>
            <a:pPr>
              <a:spcAft>
                <a:spcPts val="800"/>
              </a:spcAft>
              <a:defRPr sz="1100">
                <a:solidFill>
                  <a:srgbClr val="2C3E50"/>
                </a:solidFill>
              </a:defRPr>
            </a:pPr>
            <a:r>
              <a:t>✔ REQ-05: VPN expired → asks if full-time or contractor (KB-02)</a:t>
            </a:r>
          </a:p>
          <a:p>
            <a:pPr>
              <a:spcAft>
                <a:spcPts val="800"/>
              </a:spcAft>
              <a:defRPr sz="1100">
                <a:solidFill>
                  <a:srgbClr val="2C3E50"/>
                </a:solidFill>
              </a:defRPr>
            </a:pPr>
            <a:r>
              <a:t>✔ REQ-11: Contractor VPN → asks for manager approval details (KB-02)</a:t>
            </a:r>
          </a:p>
          <a:p>
            <a:pPr>
              <a:spcAft>
                <a:spcPts val="800"/>
              </a:spcAft>
              <a:defRPr sz="1100">
                <a:solidFill>
                  <a:srgbClr val="2C3E50"/>
                </a:solidFill>
              </a:defRPr>
            </a:pPr>
            <a:r>
              <a:t>✔ REQ-15: Vague query ("not working") → prompts 4 diagnostic checklist questions (system, task, error, timing)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29768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F5B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C0392B"/>
                </a:solidFill>
              </a:defRPr>
            </a:pPr>
            <a:r>
              <a:t>ESCALATE</a:t>
            </a:r>
          </a:p>
          <a:p>
            <a:pPr>
              <a:spcAft>
                <a:spcPts val="1000"/>
              </a:spcAft>
              <a:defRPr sz="1100">
                <a:solidFill>
                  <a:srgbClr val="7F8C8D"/>
                </a:solidFill>
              </a:defRPr>
            </a:pPr>
            <a:r>
              <a:t>Intentional safety &amp; authority boundary (not failure).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</a:defRPr>
            </a:pPr>
            <a:r>
              <a:t>✔ REQ-01: Dead laptop (3.5 yrs) → routes to IT Support &amp; Finance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</a:defRPr>
            </a:pPr>
            <a:r>
              <a:t>✔ REQ-04: Non-catalog software → routes to IT Security (KB-04)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</a:defRPr>
            </a:pPr>
            <a:r>
              <a:t>✔ REQ-08: Phishing email → immediate High priority escalation (KB-09)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</a:defRPr>
            </a:pPr>
            <a:r>
              <a:t>✔ REQ-10: Admin server access → strictly escalated for justification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82B49"/>
                </a:solidFill>
              </a:defRPr>
            </a:pPr>
            <a:r>
              <a:t>Key Principle: Escalation is an intentional security and compliance boundary designed to protect corporate assets.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980B9"/>
                </a:solidFill>
                <a:latin typeface="Calibri"/>
              </a:defRPr>
            </a:pPr>
            <a:r>
              <a:t>VERIDIAN IT SERVICE DESK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82B49"/>
                </a:solidFill>
                <a:latin typeface="Calibri"/>
              </a:defRPr>
            </a:pPr>
            <a:r>
              <a:t>Structured Ticket &amp; Audit Trail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82B49"/>
                </a:solidFill>
              </a:defRPr>
            </a:pPr>
            <a:r>
              <a:t>Implemented Structured Ticket Schema</a:t>
            </a:r>
          </a:p>
          <a:p>
            <a:pPr>
              <a:spcAft>
                <a:spcPts val="200"/>
              </a:spcAft>
              <a:defRPr sz="1100">
                <a:solidFill>
                  <a:srgbClr val="2C3E50"/>
                </a:solidFill>
              </a:defRPr>
            </a:pPr>
            <a:r>
              <a:t>• Ticket ID: Unique sequential identifier (e.g., TK-1052).</a:t>
            </a:r>
          </a:p>
          <a:p>
            <a:pPr>
              <a:spcAft>
                <a:spcPts val="200"/>
              </a:spcAft>
              <a:defRPr sz="1100">
                <a:solidFill>
                  <a:srgbClr val="2C3E50"/>
                </a:solidFill>
              </a:defRPr>
            </a:pPr>
            <a:r>
              <a:t>• Employee: Full name of requesting employee.</a:t>
            </a:r>
          </a:p>
          <a:p>
            <a:pPr>
              <a:spcAft>
                <a:spcPts val="200"/>
              </a:spcAft>
              <a:defRPr sz="1100">
                <a:solidFill>
                  <a:srgbClr val="2C3E50"/>
                </a:solidFill>
              </a:defRPr>
            </a:pPr>
            <a:r>
              <a:t>• Original Request: Exact incoming text submitted by employee.</a:t>
            </a:r>
          </a:p>
          <a:p>
            <a:pPr>
              <a:spcAft>
                <a:spcPts val="200"/>
              </a:spcAft>
              <a:defRPr sz="1100">
                <a:solidFill>
                  <a:srgbClr val="2C3E50"/>
                </a:solidFill>
              </a:defRPr>
            </a:pPr>
            <a:r>
              <a:t>• Category: Domain classification (Security, Hardware, Access, Software).</a:t>
            </a:r>
          </a:p>
          <a:p>
            <a:pPr>
              <a:spcAft>
                <a:spcPts val="200"/>
              </a:spcAft>
              <a:defRPr sz="1100">
                <a:solidFill>
                  <a:srgbClr val="2C3E50"/>
                </a:solidFill>
              </a:defRPr>
            </a:pPr>
            <a:r>
              <a:t>• Priority: Standard urgency level (Low / Medium / High).</a:t>
            </a:r>
          </a:p>
          <a:p>
            <a:pPr>
              <a:spcAft>
                <a:spcPts val="200"/>
              </a:spcAft>
              <a:defRPr sz="1100">
                <a:solidFill>
                  <a:srgbClr val="2C3E50"/>
                </a:solidFill>
              </a:defRPr>
            </a:pPr>
            <a:r>
              <a:t>• Decision: RESOLVE / NEED_INFO / ESCALATE.</a:t>
            </a:r>
          </a:p>
          <a:p>
            <a:pPr>
              <a:spcAft>
                <a:spcPts val="200"/>
              </a:spcAft>
              <a:defRPr sz="1100">
                <a:solidFill>
                  <a:srgbClr val="2C3E50"/>
                </a:solidFill>
              </a:defRPr>
            </a:pPr>
            <a:r>
              <a:t>• Assigned Team: Target team (IT Security, IT Support, Finance Approvals).</a:t>
            </a:r>
          </a:p>
          <a:p>
            <a:pPr>
              <a:spcAft>
                <a:spcPts val="200"/>
              </a:spcAft>
              <a:defRPr sz="1100">
                <a:solidFill>
                  <a:srgbClr val="2C3E50"/>
                </a:solidFill>
              </a:defRPr>
            </a:pPr>
            <a:r>
              <a:t>• Policy Sources: Explicit list of cited policies (e.g., ['KB-09']).</a:t>
            </a:r>
          </a:p>
          <a:p>
            <a:pPr>
              <a:spcAft>
                <a:spcPts val="200"/>
              </a:spcAft>
              <a:defRPr sz="1100">
                <a:solidFill>
                  <a:srgbClr val="2C3E50"/>
                </a:solidFill>
              </a:defRPr>
            </a:pPr>
            <a:r>
              <a:t>• Status: Resolved / Waiting on Employee / Open (escalated).</a:t>
            </a:r>
          </a:p>
          <a:p>
            <a:pPr>
              <a:spcAft>
                <a:spcPts val="200"/>
              </a:spcAft>
              <a:defRPr sz="1100">
                <a:solidFill>
                  <a:srgbClr val="2C3E50"/>
                </a:solidFill>
              </a:defRPr>
            </a:pPr>
            <a:r>
              <a:t>• Created Timestamp: Exact ISO 8601 creation timestamp.</a:t>
            </a:r>
          </a:p>
          <a:p>
            <a:pPr>
              <a:spcAft>
                <a:spcPts val="200"/>
              </a:spcAft>
              <a:defRPr sz="1100">
                <a:solidFill>
                  <a:srgbClr val="2C3E50"/>
                </a:solidFill>
              </a:defRPr>
            </a:pPr>
            <a:r>
              <a:t>• Notes: Routing context and employee action instructions.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82B49"/>
                </a:solidFill>
              </a:defRPr>
            </a:pPr>
            <a:r>
              <a:t>Audit Trail &amp; Persistence Architecture</a:t>
            </a:r>
          </a:p>
          <a:p>
            <a:pPr>
              <a:spcAft>
                <a:spcPts val="600"/>
              </a:spcAft>
              <a:defRPr sz="1150">
                <a:solidFill>
                  <a:srgbClr val="2C3E50"/>
                </a:solidFill>
              </a:defRPr>
            </a:pPr>
            <a:r>
              <a:t>✔ tickets_created.json: Append-only local JSON store persisting every generated escalation ticket.</a:t>
            </a:r>
          </a:p>
          <a:p>
            <a:pPr>
              <a:spcAft>
                <a:spcPts val="600"/>
              </a:spcAft>
              <a:defRPr sz="1150">
                <a:solidFill>
                  <a:srgbClr val="2C3E50"/>
                </a:solidFill>
              </a:defRPr>
            </a:pPr>
            <a:r>
              <a:t>✔ audit_log.json: Immutable audit log capturing all lifecycle events: agent_started, policy_search, ticket_search, followup_answered, and agent_decision.</a:t>
            </a:r>
          </a:p>
          <a:p>
            <a:pPr>
              <a:spcAft>
                <a:spcPts val="600"/>
              </a:spcAft>
              <a:defRPr sz="1150">
                <a:solidFill>
                  <a:srgbClr val="2C3E50"/>
                </a:solidFill>
              </a:defRPr>
            </a:pPr>
            <a:r>
              <a:t>✔ Transparent UI Display: The Service Desk UI renders a structured ticket summary card (ID, Priority, Team, Status) for all decisions, plus an expandable Raw JSON inspector.</a:t>
            </a:r>
          </a:p>
          <a:p>
            <a:pPr>
              <a:spcAft>
                <a:spcPts val="600"/>
              </a:spcAft>
              <a:defRPr sz="1150">
                <a:solidFill>
                  <a:srgbClr val="2C3E50"/>
                </a:solidFill>
              </a:defRPr>
            </a:pPr>
            <a:r>
              <a:t>✔ Historical Context Independence: Historical tickets (TK-1042..TK-1051) are displayed as reference precedents; they are never overwritten or conflated with current tickets.</a:t>
            </a:r>
          </a:p>
          <a:p>
            <a:pPr>
              <a:spcAft>
                <a:spcPts val="600"/>
              </a:spcAft>
              <a:defRPr sz="1150">
                <a:solidFill>
                  <a:srgbClr val="2C3E50"/>
                </a:solidFill>
              </a:defRPr>
            </a:pPr>
            <a:r>
              <a:t>✔ No Fabricated SLAs: The assignment pack contains no SLA definitions; the prototype strictly avoids inventing SLA fields or fake resolution timelines.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980B9"/>
                </a:solidFill>
                <a:latin typeface="Calibri"/>
              </a:defRPr>
            </a:pPr>
            <a:r>
              <a:t>VERIDIAN IT SERVICE DESK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82B49"/>
                </a:solidFill>
                <a:latin typeface="Calibri"/>
              </a:defRPr>
            </a:pPr>
            <a:r>
              <a:t>Testing &amp;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F0F9F4"/>
          </a:solidFill>
          <a:ln w="12700">
            <a:solidFill>
              <a:srgbClr val="A9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15/15 POLICY TEST SUITE — 100% PASS</a:t>
            </a:r>
          </a:p>
          <a:p>
            <a:pPr>
              <a:defRPr sz="1200">
                <a:solidFill>
                  <a:srgbClr val="2C3E50"/>
                </a:solidFill>
              </a:defRPr>
            </a:pPr>
            <a:r>
              <a:t>All 15 employee requests from the authoritative Assignment 2 data pack pass their expected decisions and policy citations.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82B49"/>
                </a:solidFill>
              </a:defRPr>
            </a:pPr>
            <a:r>
              <a:t>REQ-03 (Karan Mehta)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• Issue: Locked out after 6 attempts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• Policy: KB-01 (Password Reset)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• Decision: RESOLVE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• Precedent: TK-1049 (V. Nambiar)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• Result: PASS — Correct guidance generated; TK-1049 correlated.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65176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83464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82B49"/>
                </a:solidFill>
              </a:defRPr>
            </a:pPr>
            <a:r>
              <a:t>REQ-10 (Kavya Pillai)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• Issue: Finance server admin access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• Guardrail: Privileged access barrier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• Decision: ESCALATE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• Precedent: TK-1050 (J. Fernandes)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• Result: PASS — Escalated to IT Admin/Security; TK-1050 correlated.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65176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83464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82B49"/>
                </a:solidFill>
              </a:defRPr>
            </a:pPr>
            <a:r>
              <a:t>REQ-15 &amp; Suite Verification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• Issue: "hey can you help, its not working"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• Decision: NEED INFO (FOLLOW-UP)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• Validation: 4 diagnostic questions verified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• Precedent Tests: PASS (TK-1049, TK-1050)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• Streamlit UI Tests: PASS (Headless AppTest)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• Clean Demo State: PASS (JSON stores reset to [])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980B9"/>
                </a:solidFill>
                <a:latin typeface="Calibri"/>
              </a:defRPr>
            </a:pPr>
            <a:r>
              <a:t>VERIDIAN IT SERVICE DESK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82B49"/>
                </a:solidFill>
                <a:latin typeface="Calibri"/>
              </a:defRPr>
            </a:pPr>
            <a:r>
              <a:t>Technology, AI Tools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82B49"/>
                </a:solidFill>
              </a:defRPr>
            </a:pPr>
            <a:r>
              <a:t>Technology Stack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• Core Language: Python 3.10+ (tested on 3.14)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• Web Interface: Streamlit 1.50+ dashboard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• Runtime Engine: Deterministic policy-grounded engine (Active • Policy-Grounded Engine)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• Local Persistence: Flat-file JSON audit and ticket stores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• Optional LLM Path: Gemini 2.5-flash supported via .env with post-hoc guardrail normalization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704088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6675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B49"/>
                </a:solidFill>
              </a:defRPr>
            </a:pPr>
            <a:r>
              <a:t>AI Tools Used &amp; Human Validation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✔ Google Antigravity: Primary development environment and agent-assisted coding workspace; used for UI iteration, bug fixing, test running, and project structure.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✔ ChatGPT: Development assistant used for solution planning, architectural reasoning, edge-case identification, and documentation review.</a:t>
            </a:r>
          </a:p>
          <a:p>
            <a:pPr>
              <a:spcAft>
                <a:spcPts val="400"/>
              </a:spcAft>
              <a:defRPr sz="1100">
                <a:solidFill>
                  <a:srgbClr val="2C3E50"/>
                </a:solidFill>
              </a:defRPr>
            </a:pPr>
            <a:r>
              <a:t>✔ Human Validation: Final implementation systematically verified against the authoritative Assignment 2 data pack; 15/15 policy tests, precedent matches, and UI flows verified.</a:t>
            </a:r>
          </a:p>
          <a:p>
            <a:pPr>
              <a:defRPr sz="1050" i="1">
                <a:solidFill>
                  <a:srgbClr val="7F8C8D"/>
                </a:solidFill>
              </a:defRPr>
            </a:pPr>
            <a:r>
              <a:t>AI Disclosure: AI tools were used during development of this prototype. The final implementation was reviewed and validated against the assignment requirements and authoritative data pack.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16636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B49"/>
                </a:solidFill>
              </a:defRPr>
            </a:pPr>
            <a:r>
              <a:t>Prototype Demonstration &amp; Submission Artifacts</a:t>
            </a:r>
          </a:p>
          <a:p>
            <a:pPr>
              <a:defRPr sz="1150">
                <a:solidFill>
                  <a:srgbClr val="2C3E50"/>
                </a:solidFill>
              </a:defRPr>
            </a:pPr>
            <a:r>
              <a:t>• Working Prototype: Run locally via .\.venv\Scripts\streamlit run app.py (http://localhost:8501)</a:t>
            </a:r>
            <a:br/>
            <a:r>
              <a:t>• Repository: Complete source code, test cases, and architectural documentation hosted on GitHub</a:t>
            </a:r>
            <a:br/>
            <a:r>
              <a:t>• Next Step: 15-minute live demonstration showcasing triage, clarification, and human escalation workflows.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